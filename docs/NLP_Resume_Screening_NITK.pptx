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E865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5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4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3B2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 Model</c:v>
                  </c:pt>
                  <c:pt idx="1">
                    <c:v>Regularized</c:v>
                  </c:pt>
                  <c:pt idx="2">
                    <c:v>Non-Regularized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0.4043</c:v>
                </c:pt>
                <c:pt idx="1">
                  <c:v>0.3996</c:v>
                </c:pt>
                <c:pt idx="2">
                  <c:v>0.3739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.3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4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4843C">
              <a:alpha val="45000"/>
            </a:srgbClr>
          </a:solidFill>
          <a:ln w="12700">
            <a:solidFill>
              <a:srgbClr val="F484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474720"/>
            <a:ext cx="1371600" cy="1371600"/>
          </a:xfrm>
          <a:prstGeom prst="ellipse">
            <a:avLst/>
          </a:prstGeom>
          <a:solidFill>
            <a:srgbClr val="B84A00">
              <a:alpha val="60000"/>
            </a:srgbClr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F4843C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274320"/>
            <a:ext cx="1280160" cy="1280160"/>
          </a:xfrm>
          <a:prstGeom prst="ellipse">
            <a:avLst/>
          </a:prstGeom>
          <a:solidFill>
            <a:srgbClr val="FF9A45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40080" y="155448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0" y="256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KARNATAKA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594360"/>
            <a:ext cx="5212080" cy="27432"/>
          </a:xfrm>
          <a:prstGeom prst="rect">
            <a:avLst/>
          </a:prstGeom>
          <a:solidFill>
            <a:srgbClr val="F4843C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7498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Screening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566160" y="1508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Skill Gap Analysis Using NLP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566160" y="230428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9A45"/>
          </a:solidFill>
          <a:ln/>
        </p:spPr>
      </p:sp>
      <p:sp>
        <p:nvSpPr>
          <p:cNvPr id="13" name="Text 10"/>
          <p:cNvSpPr/>
          <p:nvPr/>
        </p:nvSpPr>
        <p:spPr>
          <a:xfrm>
            <a:off x="3566160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66160" y="2743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Amrutanshu Bhat  ·  Anurag Kashyap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 Dhangar  ·  Bammidi Pragati Rao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66160" y="3474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Machine Learning Mini Project  |  March 2026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6616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github.com/bpragatirao/Automated-resume-screening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566160" y="4315968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566160" y="431596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76672" y="4315968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376672" y="431596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87184" y="4315968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187184" y="431596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566160" y="4608576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566160" y="46085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JobBERT-v2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76672" y="4608576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376672" y="46085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87184" y="4608576"/>
            <a:ext cx="1682496" cy="228600"/>
          </a:xfrm>
          <a:prstGeom prst="roundRect">
            <a:avLst>
              <a:gd name="adj" fmla="val 40000"/>
            </a:avLst>
          </a:prstGeom>
          <a:solidFill>
            <a:srgbClr val="3D1A00">
              <a:alpha val="8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187184" y="46085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813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35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25880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3258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4813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435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20040" y="2221992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221992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7" name="Text 13"/>
          <p:cNvSpPr/>
          <p:nvPr/>
        </p:nvSpPr>
        <p:spPr>
          <a:xfrm>
            <a:off x="320040" y="22219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7744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&amp; Architecture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754880" y="2221992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221992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2" name="Text 17"/>
          <p:cNvSpPr/>
          <p:nvPr/>
        </p:nvSpPr>
        <p:spPr>
          <a:xfrm>
            <a:off x="4754880" y="22219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37744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0644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Motivation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320040" y="3118104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118104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7" name="Text 21"/>
          <p:cNvSpPr/>
          <p:nvPr/>
        </p:nvSpPr>
        <p:spPr>
          <a:xfrm>
            <a:off x="320040" y="31181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27355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71600" y="3227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4754880" y="3118104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118104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2" name="Text 25"/>
          <p:cNvSpPr/>
          <p:nvPr/>
        </p:nvSpPr>
        <p:spPr>
          <a:xfrm>
            <a:off x="4754880" y="31181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27355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806440" y="3227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2377440" y="4014216"/>
            <a:ext cx="4160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2377440" y="4014216"/>
            <a:ext cx="457200" cy="71323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7" name="Text 29"/>
          <p:cNvSpPr/>
          <p:nvPr/>
        </p:nvSpPr>
        <p:spPr>
          <a:xfrm>
            <a:off x="2377440" y="401421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68" y="4169664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429000" y="41239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Challenge in the Digital 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651760" cy="41148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SCALE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job posting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2103120" cy="18288"/>
          </a:xfrm>
          <a:prstGeom prst="rect">
            <a:avLst/>
          </a:prstGeom>
          <a:solidFill>
            <a:srgbClr val="FDE9D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7706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 in screening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538728"/>
            <a:ext cx="2103120" cy="18288"/>
          </a:xfrm>
          <a:prstGeom prst="rect">
            <a:avLst/>
          </a:prstGeom>
          <a:solidFill>
            <a:srgbClr val="FDE9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7307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bottleneck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261872"/>
            <a:ext cx="55778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93008" y="1389888"/>
            <a:ext cx="512064" cy="512064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421" y="149230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133088" y="13533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Filtering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33088" y="17007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scan for exact keywords — missing semantically equivalent skills like 'machine learning' vs 'deep learning'.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46120" y="2468880"/>
            <a:ext cx="55778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93008" y="2596896"/>
            <a:ext cx="512064" cy="512064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2699309"/>
            <a:ext cx="307238" cy="30723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133088" y="2560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Bias at Scale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133088" y="290779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show affinity bias, confirmation bias, and name-based discrimination — compromising fairness and audit-ability.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246120" y="3675888"/>
            <a:ext cx="55778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493008" y="3803904"/>
            <a:ext cx="512064" cy="512064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421" y="3906317"/>
            <a:ext cx="307238" cy="30723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133088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NLP-Powered Solution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4133088" y="41148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BERT &amp; Sentence-BERT encode resumes and JDs into a shared semantic space enabling nuanced, meaning-aware matching.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Screening Fails at Scale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462272"/>
            <a:ext cx="9144000" cy="672084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498848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pressing need exists for an intelligent automated system that is consistent, objective, quantitative, and transparent.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206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4206240" cy="347472"/>
          </a:xfrm>
          <a:prstGeom prst="rect">
            <a:avLst/>
          </a:prstGeom>
          <a:solidFill>
            <a:srgbClr val="E8650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167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Limitation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167335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reviewers can only evaluate a limited number of resumes per day. Fatigue-induced inconsistency further degrades quality late in review sessions.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1261872"/>
            <a:ext cx="4206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261872"/>
            <a:ext cx="4206240" cy="347472"/>
          </a:xfrm>
          <a:prstGeom prst="rect">
            <a:avLst/>
          </a:prstGeom>
          <a:solidFill>
            <a:srgbClr val="B84A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1673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46320" y="167335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bias, confirmation bias, and name-based discrimination all compromise fairness, exposing organizations to legal and reputational risk.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2798064"/>
            <a:ext cx="4206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798064"/>
            <a:ext cx="4206240" cy="347472"/>
          </a:xfrm>
          <a:prstGeom prst="rect">
            <a:avLst/>
          </a:prstGeom>
          <a:solidFill>
            <a:srgbClr val="E8650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529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Framework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320954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equally qualified candidates may receive drastically different outcomes based solely on which reviewer processes their application.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798064"/>
            <a:ext cx="4206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798064"/>
            <a:ext cx="4206240" cy="347472"/>
          </a:xfrm>
          <a:prstGeom prst="rect">
            <a:avLst/>
          </a:prstGeom>
          <a:solidFill>
            <a:srgbClr val="B84A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85292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846320" y="320954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filtering provides no actionable feedback to candidates, nor does it offer recruiters an auditable record of the shortlisting rationale.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Aims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02920" cy="65836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624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Resume Screening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08760" y="15819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 pipeline processing raw resume &amp; JD text to produce ranked candidate suitability scores without manual intervention.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002536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002536"/>
            <a:ext cx="502920" cy="65836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20025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3055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048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Normalize Skills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08760" y="2350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standardize skill mentions from resumes and JDs, handling variations in phrasing, abbreviations, and domain-specific terminology.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770632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770632"/>
            <a:ext cx="502920" cy="65836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9" name="Text 15"/>
          <p:cNvSpPr/>
          <p:nvPr/>
        </p:nvSpPr>
        <p:spPr>
          <a:xfrm>
            <a:off x="320040" y="27706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9864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816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Semantic Similarity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08760" y="31181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transformer-based sentence embeddings to calculate context-aware similarity scores between each resume–JD pair, far beyond token overlap.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538728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538728"/>
            <a:ext cx="502920" cy="65836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5" name="Text 20"/>
          <p:cNvSpPr/>
          <p:nvPr/>
        </p:nvSpPr>
        <p:spPr>
          <a:xfrm>
            <a:off x="320040" y="35387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6674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Skill Gap Analysis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50876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identify competencies listed in JDs but absent from a candidate's resume, presenting structured, actionable upskilling feedback.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306824"/>
            <a:ext cx="8503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" y="4306824"/>
            <a:ext cx="502920" cy="65836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1" name="Text 25"/>
          <p:cNvSpPr/>
          <p:nvPr/>
        </p:nvSpPr>
        <p:spPr>
          <a:xfrm>
            <a:off x="320040" y="43068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34840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4352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Benchmark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508760" y="46542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assess model variants using Macro F1-score on a labeled held-out dataset, establishing a quantitative baseline for future improvements.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Focus, Flexibility &amp; Extensibility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39776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3977640" cy="41148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201168" cy="201168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10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designed for IT &amp; Software Engineering roles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201168" cy="201168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free-form text — no structural template required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201168" cy="201168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44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5.5M+ job title–skill pairs (JobBERT-v2)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201168" cy="201168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taxonomy for skill normalization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testable modular pipeline components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26280" y="1261872"/>
            <a:ext cx="42976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261872"/>
            <a:ext cx="4297680" cy="41148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261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12664" y="1901952"/>
            <a:ext cx="548640" cy="54864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11680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709160" y="25420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75120" y="1828800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278624" y="1901952"/>
            <a:ext cx="548640" cy="54864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201168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675120" y="25420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709160" y="3182112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312664" y="3255264"/>
            <a:ext cx="548640" cy="54864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364992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09160" y="38953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6675120" y="3182112"/>
            <a:ext cx="1755648" cy="1051560"/>
          </a:xfrm>
          <a:prstGeom prst="roundRect">
            <a:avLst>
              <a:gd name="adj" fmla="val 10435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278624" y="3255264"/>
            <a:ext cx="548640" cy="548640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364992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675120" y="38953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26280" y="4270248"/>
            <a:ext cx="4297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architecture — modular design allows independent updates to skill extraction, encoding, and classification components.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&amp; Prior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Literature Review &amp; Design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240280" cy="34747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2194560" cy="347472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234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19472" y="1234440"/>
            <a:ext cx="3977640" cy="347472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234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Our Decision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2240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18488"/>
            <a:ext cx="211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Scraper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581912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618488"/>
            <a:ext cx="2066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pipeline;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heuristics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9472" y="1581912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618488"/>
            <a:ext cx="3849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semantics; exact-string matching only.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preprocessing, rejected matching.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24028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322576"/>
            <a:ext cx="211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Scoring (BERT)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286000"/>
            <a:ext cx="219456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2322576"/>
            <a:ext cx="2066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BERT pooling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document assessment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2286000"/>
            <a:ext cx="397764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322576"/>
            <a:ext cx="3849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scoring collapses skill granularity.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pooling idea; rejected single-score.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90088"/>
            <a:ext cx="2240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026664"/>
            <a:ext cx="211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 Compliance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2990088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0048" y="3026664"/>
            <a:ext cx="2066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fine-tuning outperforms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general BERT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2990088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026664"/>
            <a:ext cx="3849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Closed-label taxonomy; no open skill space.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domain-adaptation insight.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94176"/>
            <a:ext cx="224028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730752"/>
            <a:ext cx="211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Quality (IEEE)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3694176"/>
            <a:ext cx="219456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3730752"/>
            <a:ext cx="2066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discriminate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quality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694176"/>
            <a:ext cx="3977640" cy="685800"/>
          </a:xfrm>
          <a:prstGeom prst="rect">
            <a:avLst/>
          </a:prstGeom>
          <a:solidFill>
            <a:srgbClr val="FFF5EE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730752"/>
            <a:ext cx="3849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resumes in isolation — no JD comparison.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BERT viability; shifted to relational.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398264"/>
            <a:ext cx="2240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4434840"/>
            <a:ext cx="2112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Ranking (Cosine)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06040" y="4398264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4434840"/>
            <a:ext cx="20665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JD–resume ranking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cosine distance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19472" y="4398264"/>
            <a:ext cx="3977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C8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434840"/>
            <a:ext cx="38496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are lexical, synonym-blind.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cosine framework; replaced TF-IDF.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+ JobBERT-v2: The Chosen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98448"/>
            <a:ext cx="1325880" cy="32004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190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554480" y="1965960"/>
            <a:ext cx="128016" cy="54864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1" name="Text 8"/>
          <p:cNvSpPr/>
          <p:nvPr/>
        </p:nvSpPr>
        <p:spPr>
          <a:xfrm>
            <a:off x="1563624" y="18288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69164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91640" y="1298448"/>
            <a:ext cx="1325880" cy="32004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14" name="Text 11"/>
          <p:cNvSpPr/>
          <p:nvPr/>
        </p:nvSpPr>
        <p:spPr>
          <a:xfrm>
            <a:off x="169164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171907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Parsing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017520" y="1965960"/>
            <a:ext cx="128016" cy="54864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8" name="Text 14"/>
          <p:cNvSpPr/>
          <p:nvPr/>
        </p:nvSpPr>
        <p:spPr>
          <a:xfrm>
            <a:off x="3026664" y="18288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15468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154680" y="1298448"/>
            <a:ext cx="1325880" cy="32004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1" name="Text 17"/>
          <p:cNvSpPr/>
          <p:nvPr/>
        </p:nvSpPr>
        <p:spPr>
          <a:xfrm>
            <a:off x="315468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71907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15468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JobBERT-v2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480560" y="1965960"/>
            <a:ext cx="128016" cy="54864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5" name="Text 20"/>
          <p:cNvSpPr/>
          <p:nvPr/>
        </p:nvSpPr>
        <p:spPr>
          <a:xfrm>
            <a:off x="4489704" y="18288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61772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17720" y="1298448"/>
            <a:ext cx="1325880" cy="32004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28" name="Text 23"/>
          <p:cNvSpPr/>
          <p:nvPr/>
        </p:nvSpPr>
        <p:spPr>
          <a:xfrm>
            <a:off x="461772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719072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1772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943600" y="1965960"/>
            <a:ext cx="128016" cy="54864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2" name="Text 26"/>
          <p:cNvSpPr/>
          <p:nvPr/>
        </p:nvSpPr>
        <p:spPr>
          <a:xfrm>
            <a:off x="5952744" y="18288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608076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080760" y="1298448"/>
            <a:ext cx="1325880" cy="32004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5" name="Text 29"/>
          <p:cNvSpPr/>
          <p:nvPr/>
        </p:nvSpPr>
        <p:spPr>
          <a:xfrm>
            <a:off x="608076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19072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08076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406640" y="1965960"/>
            <a:ext cx="128016" cy="54864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9" name="Text 32"/>
          <p:cNvSpPr/>
          <p:nvPr/>
        </p:nvSpPr>
        <p:spPr>
          <a:xfrm>
            <a:off x="7415784" y="182880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7543800" y="1298448"/>
            <a:ext cx="1325880" cy="150876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543800" y="1298448"/>
            <a:ext cx="1325880" cy="32004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42" name="Text 35"/>
          <p:cNvSpPr/>
          <p:nvPr/>
        </p:nvSpPr>
        <p:spPr>
          <a:xfrm>
            <a:off x="7543800" y="1298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1719072"/>
            <a:ext cx="457200" cy="4572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543800" y="22677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228600" y="3063240"/>
            <a:ext cx="4133088" cy="777240"/>
          </a:xfrm>
          <a:prstGeom prst="roundRect">
            <a:avLst>
              <a:gd name="adj" fmla="val 11765"/>
            </a:avLst>
          </a:prstGeom>
          <a:solidFill>
            <a:srgbClr val="FFF5EE"/>
          </a:solidFill>
          <a:ln w="10160">
            <a:solidFill>
              <a:srgbClr val="F4843C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20040" y="3081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LANE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320040" y="32918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PDF/Text → Clean → Extract Skills → JobBERT-v2 → Embedding eR ∈ ℝ⁷⁶⁸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4782312" y="3063240"/>
            <a:ext cx="4087368" cy="777240"/>
          </a:xfrm>
          <a:prstGeom prst="roundRect">
            <a:avLst>
              <a:gd name="adj" fmla="val 11765"/>
            </a:avLst>
          </a:prstGeom>
          <a:solidFill>
            <a:srgbClr val="FFF5EE"/>
          </a:solidFill>
          <a:ln w="10160">
            <a:solidFill>
              <a:srgbClr val="B84A0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873752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LANE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4873752" y="3291840"/>
            <a:ext cx="3904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Clean → Skill Extraction → JobBERT-v2 → Embedding eJD ∈ ℝ⁷⁶⁸</a:t>
            </a:r>
            <a:endParaRPr lang="en-US" sz="1150" dirty="0"/>
          </a:p>
        </p:txBody>
      </p:sp>
      <p:sp>
        <p:nvSpPr>
          <p:cNvPr id="51" name="Shape 43"/>
          <p:cNvSpPr/>
          <p:nvPr/>
        </p:nvSpPr>
        <p:spPr>
          <a:xfrm>
            <a:off x="320040" y="4005072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320040" y="4005072"/>
            <a:ext cx="201168" cy="91440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53" name="Text 45"/>
          <p:cNvSpPr/>
          <p:nvPr/>
        </p:nvSpPr>
        <p:spPr>
          <a:xfrm>
            <a:off x="594360" y="4069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Encoder — Shared JobBERT-v2 weights process both streams in parallel. Cosine similarity between 768-dim embeddings yields fitness score thresholded into: No Fit / Potential Fit / Good Fit.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in Transformer-Based Recruitment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56032" cy="105156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1380744"/>
            <a:ext cx="493776" cy="49377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1479499"/>
            <a:ext cx="296266" cy="2962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Understanding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16642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'Python' can mean programming language or zoology. Without domain grounding, models conflate distinct meanings. Implicit skills often missed entirely.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249631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496312"/>
            <a:ext cx="256032" cy="105156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13" name="Shape 10"/>
          <p:cNvSpPr/>
          <p:nvPr/>
        </p:nvSpPr>
        <p:spPr>
          <a:xfrm>
            <a:off x="850392" y="2615184"/>
            <a:ext cx="493776" cy="49377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" y="2713939"/>
            <a:ext cx="296266" cy="2962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569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Knowledge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63040" y="28986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like 'CI/CD pipeline with Jenkins' or 'Kubernetes microservices' poorly understood by general-purpose models. Domain-adaptive pre-training is essential.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373075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730752"/>
            <a:ext cx="256032" cy="105156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9" name="Shape 15"/>
          <p:cNvSpPr/>
          <p:nvPr/>
        </p:nvSpPr>
        <p:spPr>
          <a:xfrm>
            <a:off x="850392" y="3849624"/>
            <a:ext cx="493776" cy="49377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3948379"/>
            <a:ext cx="296266" cy="2962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8039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Efficiency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463040" y="41330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(110M+ params) requires GPU for practical speed. Millions of applications demand knowledge-distilled models for cost-effective commodity deployment.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126187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1261872"/>
            <a:ext cx="256032" cy="105156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25" name="Shape 20"/>
          <p:cNvSpPr/>
          <p:nvPr/>
        </p:nvSpPr>
        <p:spPr>
          <a:xfrm>
            <a:off x="5239512" y="1380744"/>
            <a:ext cx="493776" cy="49377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267" y="1479499"/>
            <a:ext cx="296266" cy="2962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521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852160" y="16642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historical data encode and amplify past biases — university, name, demographic. Fairness-aware training objectives are critical.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709160" y="249631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09160" y="2496312"/>
            <a:ext cx="256032" cy="105156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31" name="Shape 25"/>
          <p:cNvSpPr/>
          <p:nvPr/>
        </p:nvSpPr>
        <p:spPr>
          <a:xfrm>
            <a:off x="5239512" y="2615184"/>
            <a:ext cx="493776" cy="49377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8267" y="2713939"/>
            <a:ext cx="296266" cy="29626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52160" y="2569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852160" y="28986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DNNs are unacceptable in high-stakes hiring. Attention weights ≠ true feature importance. SHAP &amp; LIME are promising but add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Multi-Component Curated Dataset for IT &amp; Software Roles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788920" cy="411480"/>
          </a:xfrm>
          <a:prstGeom prst="rect">
            <a:avLst/>
          </a:prstGeom>
          <a:solidFill>
            <a:srgbClr val="E8650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167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2801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Dataset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" y="1847088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8105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public job posting platforms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" y="2505456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468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of HTML, boilerplate, marketing text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" y="3163824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1272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title, hard skills, soft skills, experience, responsibilities, qualifications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" y="3822192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378561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mentions normalized via rule-based taxonomy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27832" y="1261872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27832" y="1261872"/>
            <a:ext cx="2788920" cy="411480"/>
          </a:xfrm>
          <a:prstGeom prst="rect">
            <a:avLst/>
          </a:prstGeom>
          <a:solidFill>
            <a:srgbClr val="B84A0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16736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85032" y="12801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Dataset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392424" y="1847088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22" name="Text 18"/>
          <p:cNvSpPr/>
          <p:nvPr/>
        </p:nvSpPr>
        <p:spPr>
          <a:xfrm>
            <a:off x="3611880" y="18105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public resume repositories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92424" y="2505456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24" name="Text 20"/>
          <p:cNvSpPr/>
          <p:nvPr/>
        </p:nvSpPr>
        <p:spPr>
          <a:xfrm>
            <a:off x="3611880" y="2468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removed — names &amp; contacts anonymized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92424" y="3163824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26" name="Text 22"/>
          <p:cNvSpPr/>
          <p:nvPr/>
        </p:nvSpPr>
        <p:spPr>
          <a:xfrm>
            <a:off x="3611880" y="31272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skills (NER), work history, projects, education, certifications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92424" y="3822192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28" name="Text 24"/>
          <p:cNvSpPr/>
          <p:nvPr/>
        </p:nvSpPr>
        <p:spPr>
          <a:xfrm>
            <a:off x="3611880" y="378561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sections are primary implicit skill signals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181344" y="1261872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81344" y="1261872"/>
            <a:ext cx="2788920" cy="411480"/>
          </a:xfrm>
          <a:prstGeom prst="rect">
            <a:avLst/>
          </a:prstGeom>
          <a:solidFill>
            <a:srgbClr val="E8650A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16736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38544" y="128016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Labels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345936" y="1847088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34" name="Text 29"/>
          <p:cNvSpPr/>
          <p:nvPr/>
        </p:nvSpPr>
        <p:spPr>
          <a:xfrm>
            <a:off x="6565392" y="18105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 labeled resume–JD pairs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345936" y="2505456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36" name="Text 31"/>
          <p:cNvSpPr/>
          <p:nvPr/>
        </p:nvSpPr>
        <p:spPr>
          <a:xfrm>
            <a:off x="6565392" y="24688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fitness classes: No Fit / Potential Fit / Good Fit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345936" y="3163824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38" name="Text 33"/>
          <p:cNvSpPr/>
          <p:nvPr/>
        </p:nvSpPr>
        <p:spPr>
          <a:xfrm>
            <a:off x="6565392" y="31272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50-token threshold; no skill-less entries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45936" y="3822192"/>
            <a:ext cx="146304" cy="146304"/>
          </a:xfrm>
          <a:prstGeom prst="ellipse">
            <a:avLst/>
          </a:prstGeom>
          <a:solidFill>
            <a:srgbClr val="E8650A"/>
          </a:solidFill>
          <a:ln/>
        </p:spPr>
      </p:sp>
      <p:sp>
        <p:nvSpPr>
          <p:cNvPr id="40" name="Text 35"/>
          <p:cNvSpPr/>
          <p:nvPr/>
        </p:nvSpPr>
        <p:spPr>
          <a:xfrm>
            <a:off x="6565392" y="3785616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80/10/10 train/val/test split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0" y="4498848"/>
            <a:ext cx="9144000" cy="6446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42" name="Text 37"/>
          <p:cNvSpPr/>
          <p:nvPr/>
        </p:nvSpPr>
        <p:spPr>
          <a:xfrm>
            <a:off x="274320" y="45079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Pairs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2331720" y="4617720"/>
            <a:ext cx="18288" cy="4114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2514600" y="45079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(Fit / Potential / No Fit)</a:t>
            </a:r>
            <a:endParaRPr lang="en-US" sz="1250" dirty="0"/>
          </a:p>
        </p:txBody>
      </p:sp>
      <p:sp>
        <p:nvSpPr>
          <p:cNvPr id="45" name="Shape 40"/>
          <p:cNvSpPr/>
          <p:nvPr/>
        </p:nvSpPr>
        <p:spPr>
          <a:xfrm>
            <a:off x="4572000" y="4617720"/>
            <a:ext cx="18288" cy="4114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4754880" y="45079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6812280" y="4617720"/>
            <a:ext cx="18288" cy="4114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6995160" y="45079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Software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Focus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Mathematical Formulation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L2-Regularized Cosine Similarity Training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971800" cy="35204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971800" cy="365760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971800" cy="347472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7830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6192" y="17830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JobBERT-v2 (5.5M job pairs)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12264"/>
            <a:ext cx="2971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157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36192" y="21579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Encoder 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2971800" cy="347472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3288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36192" y="25328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Loss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62072"/>
            <a:ext cx="2971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9077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36192" y="29077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 labeled entries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36976"/>
            <a:ext cx="2971800" cy="347472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2826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36192" y="32826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10% / 10%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2971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657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36192" y="36576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2971800" cy="347472"/>
          </a:xfrm>
          <a:prstGeom prst="rect">
            <a:avLst/>
          </a:prstGeom>
          <a:solidFill>
            <a:srgbClr val="FDF6F0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40325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36192" y="403250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(constrained)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361688"/>
            <a:ext cx="2971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4074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36192" y="44074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Weight Decay (λ)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1261872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74720" y="1261872"/>
            <a:ext cx="5349240" cy="36576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126187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1188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L2-Regularized Loss: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11880" y="201168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FF5EE"/>
          </a:solidFill>
          <a:ln/>
        </p:spPr>
      </p:sp>
      <p:sp>
        <p:nvSpPr>
          <p:cNvPr id="37" name="Text 35"/>
          <p:cNvSpPr/>
          <p:nvPr/>
        </p:nvSpPr>
        <p:spPr>
          <a:xfrm>
            <a:off x="3703320" y="2020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L(w) = (1/n)Σ ℓ(yᵢ, ŷᵢ) + λ‖w‖₂²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1188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11880" y="2596896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F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3703320" y="2606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cos(eR, eJD) = (eR · eJD) / (‖eR‖ ‖eJD‖)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1188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Closed Form: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11880" y="3182112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FF5EE"/>
          </a:solidFill>
          <a:ln/>
        </p:spPr>
      </p:sp>
      <p:sp>
        <p:nvSpPr>
          <p:cNvPr id="43" name="Text 41"/>
          <p:cNvSpPr/>
          <p:nvPr/>
        </p:nvSpPr>
        <p:spPr>
          <a:xfrm>
            <a:off x="3703320" y="31912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w* = (XᵀX + nλI)⁻¹ Xᵀy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11880" y="3511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Update: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11880" y="3767328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FF5EE"/>
          </a:solidFill>
          <a:ln/>
        </p:spPr>
      </p:sp>
      <p:sp>
        <p:nvSpPr>
          <p:cNvPr id="46" name="Text 44"/>
          <p:cNvSpPr/>
          <p:nvPr/>
        </p:nvSpPr>
        <p:spPr>
          <a:xfrm>
            <a:off x="3703320" y="3776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:= (1 - ηλ)w + (η/n)Xᵀ(y - Xw)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11880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with Gradient: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11880" y="4352544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FFF5EE"/>
          </a:solidFill>
          <a:ln/>
        </p:spPr>
      </p:sp>
      <p:sp>
        <p:nvSpPr>
          <p:cNvPr id="49" name="Text 47"/>
          <p:cNvSpPr/>
          <p:nvPr/>
        </p:nvSpPr>
        <p:spPr>
          <a:xfrm>
            <a:off x="3703320" y="43616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∇w L = -(1/n)Xᵀ(y - Xw) + λw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on 1,000-Sample Held-Out Test 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743200" cy="34747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0.4043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🥇 Best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7432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61872"/>
            <a:ext cx="2743200" cy="347472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627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0.3996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4612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🥈 2nd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61872"/>
            <a:ext cx="27432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61872"/>
            <a:ext cx="2743200" cy="347472"/>
          </a:xfrm>
          <a:prstGeom prst="rect">
            <a:avLst/>
          </a:prstGeom>
          <a:solidFill>
            <a:srgbClr val="6B3B2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261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Non-Regularized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0.3739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72200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· 🥉 3rd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0040" y="2724912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0" y="2724912"/>
            <a:ext cx="4251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2724912"/>
            <a:ext cx="4251960" cy="34747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27249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BASE MODEL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3072384"/>
            <a:ext cx="1298448" cy="402336"/>
          </a:xfrm>
          <a:prstGeom prst="rect">
            <a:avLst/>
          </a:prstGeom>
          <a:solidFill>
            <a:srgbClr val="FFF5EE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307238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Class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16168" y="3072384"/>
            <a:ext cx="914400" cy="402336"/>
          </a:xfrm>
          <a:prstGeom prst="rect">
            <a:avLst/>
          </a:prstGeom>
          <a:solidFill>
            <a:srgbClr val="FFF5EE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16168" y="30723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30568" y="3072384"/>
            <a:ext cx="978408" cy="402336"/>
          </a:xfrm>
          <a:prstGeom prst="rect">
            <a:avLst/>
          </a:prstGeom>
          <a:solidFill>
            <a:srgbClr val="FFF5EE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30568" y="3072384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08976" y="3072384"/>
            <a:ext cx="914400" cy="402336"/>
          </a:xfrm>
          <a:prstGeom prst="rect">
            <a:avLst/>
          </a:prstGeom>
          <a:solidFill>
            <a:srgbClr val="FFF5EE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08976" y="30723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17720" y="3493008"/>
            <a:ext cx="1298448" cy="402336"/>
          </a:xfrm>
          <a:prstGeom prst="rect">
            <a:avLst/>
          </a:prstGeom>
          <a:solidFill>
            <a:srgbClr val="FDF6F0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17720" y="34930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16168" y="3493008"/>
            <a:ext cx="914400" cy="402336"/>
          </a:xfrm>
          <a:prstGeom prst="rect">
            <a:avLst/>
          </a:prstGeom>
          <a:solidFill>
            <a:srgbClr val="FFE5CC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16168" y="34930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830568" y="3493008"/>
            <a:ext cx="97840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30568" y="3493008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808976" y="3493008"/>
            <a:ext cx="9144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08976" y="34930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617720" y="3913632"/>
            <a:ext cx="1298448" cy="402336"/>
          </a:xfrm>
          <a:prstGeom prst="rect">
            <a:avLst/>
          </a:prstGeom>
          <a:solidFill>
            <a:srgbClr val="FDF6F0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17720" y="39136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Fit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916168" y="3913632"/>
            <a:ext cx="9144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16168" y="3913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30568" y="3913632"/>
            <a:ext cx="978408" cy="402336"/>
          </a:xfrm>
          <a:prstGeom prst="rect">
            <a:avLst/>
          </a:prstGeom>
          <a:solidFill>
            <a:srgbClr val="FFE5CC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30568" y="3913632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808976" y="3913632"/>
            <a:ext cx="9144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08976" y="3913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617720" y="4334256"/>
            <a:ext cx="1298448" cy="402336"/>
          </a:xfrm>
          <a:prstGeom prst="rect">
            <a:avLst/>
          </a:prstGeom>
          <a:solidFill>
            <a:srgbClr val="FDF6F0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433425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916168" y="4334256"/>
            <a:ext cx="9144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16168" y="4334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830568" y="4334256"/>
            <a:ext cx="97840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30568" y="4334256"/>
            <a:ext cx="978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808976" y="4334256"/>
            <a:ext cx="914400" cy="402336"/>
          </a:xfrm>
          <a:prstGeom prst="rect">
            <a:avLst/>
          </a:prstGeom>
          <a:solidFill>
            <a:srgbClr val="FFE5CC"/>
          </a:solidFill>
          <a:ln w="5080">
            <a:solidFill>
              <a:srgbClr val="E0C8B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08976" y="43342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Roadmap Ahead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5029200" cy="35478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5029200" cy="384048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5E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55648"/>
            <a:ext cx="201168" cy="5303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92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(Macro F1 = 0.4043) outperforms fine-tuned variants under constrained single-epoch 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59152"/>
            <a:ext cx="201168" cy="5303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957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variant (F1 = 0.3996) shows majority-class bias toward 'Good Fit' — likely from weight decay + single epoch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5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62656"/>
            <a:ext cx="201168" cy="5303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999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Non-Regularized (F1 = 0.3739) exhibits extreme collapse: 548/1000 samples assigned to 'Good Fit'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566160"/>
            <a:ext cx="201168" cy="5303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6027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measurably outperform traditional keyword-based screening approaches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5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69664"/>
            <a:ext cx="201168" cy="530352"/>
          </a:xfrm>
          <a:prstGeom prst="rect">
            <a:avLst/>
          </a:prstGeom>
          <a:solidFill>
            <a:srgbClr val="E865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 enriches output: specific missing competencies returned per candidate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1261872"/>
            <a:ext cx="3246120" cy="3547872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F48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1261872"/>
            <a:ext cx="3246120" cy="384048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42432" y="1682496"/>
            <a:ext cx="402336" cy="40233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899" y="1762963"/>
            <a:ext cx="241402" cy="24140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236208" y="176479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Multi-epoch training with validation-guided early stopping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42432" y="2276856"/>
            <a:ext cx="402336" cy="40233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899" y="2357323"/>
            <a:ext cx="241402" cy="24140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236208" y="23591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domain-diverse datasets (healthcare, finance, legal)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742432" y="2871216"/>
            <a:ext cx="402336" cy="40233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99" y="2951683"/>
            <a:ext cx="241402" cy="24140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36208" y="295351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for per-decision human-readable explanations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742432" y="3465576"/>
            <a:ext cx="402336" cy="40233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899" y="3546043"/>
            <a:ext cx="241402" cy="24140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236208" y="35478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fairness audit &amp; bias-mitigation strategies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742432" y="4059936"/>
            <a:ext cx="402336" cy="402336"/>
          </a:xfrm>
          <a:prstGeom prst="ellipse">
            <a:avLst/>
          </a:prstGeom>
          <a:solidFill>
            <a:srgbClr val="E8650A"/>
          </a:solidFill>
          <a:ln w="12700">
            <a:solidFill>
              <a:srgbClr val="F4843C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899" y="4140403"/>
            <a:ext cx="241402" cy="24140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36208" y="41422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Knowledge-distilled models for production-scale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84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84A0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8650A">
              <a:alpha val="70000"/>
            </a:srgbClr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E8650A">
              <a:alpha val="60000"/>
            </a:srgbClr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-731520"/>
            <a:ext cx="1828800" cy="1828800"/>
          </a:xfrm>
          <a:prstGeom prst="ellipse">
            <a:avLst/>
          </a:prstGeom>
          <a:solidFill>
            <a:srgbClr val="FF9A45">
              <a:alpha val="45000"/>
            </a:srgbClr>
          </a:solidFill>
          <a:ln w="12700">
            <a:solidFill>
              <a:srgbClr val="E8650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749040" y="54864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Screening &amp; Skill Gap Analysis Using NLP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456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github.com/bpragatirao/Automated-resume-screening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71600" y="3931920"/>
            <a:ext cx="6400800" cy="18288"/>
          </a:xfrm>
          <a:prstGeom prst="rect">
            <a:avLst/>
          </a:prstGeom>
          <a:solidFill>
            <a:srgbClr val="F4843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Amrutanshu Bhat  |  Anurag Kashyap  |  Ashwin Dhangar  |  Bammidi Pragati Rao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NITK Surathkal  |  Advanced Machine Learning Mini Project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Resume Screening &amp; Skill Gap Analysis Using NLP</dc:title>
  <dc:subject>PptxGenJS Presentation</dc:subject>
  <dc:creator>NITK | IEEE Project</dc:creator>
  <cp:lastModifiedBy>NITK | IEEE Project</cp:lastModifiedBy>
  <cp:revision>1</cp:revision>
  <dcterms:created xsi:type="dcterms:W3CDTF">2026-03-28T14:56:36Z</dcterms:created>
  <dcterms:modified xsi:type="dcterms:W3CDTF">2026-03-28T14:56:36Z</dcterms:modified>
</cp:coreProperties>
</file>